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Bénéficiaires</c:v>
                </c:pt>
              </c:strCache>
            </c:strRef>
          </c:tx>
          <c:spPr>
            <a:solidFill>
              <a:srgbClr val="0072B2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Boucle du Mouhoun</c:v>
                </c:pt>
                <c:pt idx="1">
                  <c:v>Centre</c:v>
                </c:pt>
                <c:pt idx="2">
                  <c:v>Nord</c:v>
                </c:pt>
                <c:pt idx="3">
                  <c:v>Centre-Nord</c:v>
                </c:pt>
                <c:pt idx="4">
                  <c:v>Sahel</c:v>
                </c:pt>
                <c:pt idx="5">
                  <c:v>Est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151</c:v>
                </c:pt>
                <c:pt idx="1">
                  <c:v>194</c:v>
                </c:pt>
                <c:pt idx="2">
                  <c:v>220</c:v>
                </c:pt>
                <c:pt idx="3">
                  <c:v>267</c:v>
                </c:pt>
                <c:pt idx="4">
                  <c:v>267</c:v>
                </c:pt>
                <c:pt idx="5">
                  <c:v>305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25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4DFD5"/>
            </a:solidFill>
          </a:ln>
        </c:spPr>
        <c:txPr>
          <a:bodyPr/>
          <a:lstStyle/>
          <a:p>
            <a:pPr>
              <a:defRPr sz="1100">
                <a:solidFill>
                  <a:srgbClr val="25231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 de l'assistance (USD)</c:v>
                </c:pt>
              </c:strCache>
            </c:strRef>
          </c:tx>
          <c:spPr>
            <a:solidFill>
              <a:srgbClr val="0072B2"/>
            </a:solidFill>
            <a:ln w="31750">
              <a:solidFill>
                <a:srgbClr val="0072B2"/>
              </a:solidFill>
            </a:ln>
          </c:spPr>
          <c:marker>
            <c:symbol val="circle"/>
            <c:spPr>
              <a:solidFill>
                <a:srgbClr val="0072B2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4341530</c:v>
                </c:pt>
                <c:pt idx="1">
                  <c:v>4238088</c:v>
                </c:pt>
                <c:pt idx="2">
                  <c:v>4191723</c:v>
                </c:pt>
                <c:pt idx="3">
                  <c:v>4390093</c:v>
                </c:pt>
                <c:pt idx="4">
                  <c:v>4470656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25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DFD5"/>
            </a:solidFill>
          </a:ln>
        </c:spPr>
        <c:txPr>
          <a:bodyPr/>
          <a:lstStyle/>
          <a:p>
            <a:pPr>
              <a:defRPr sz="1100">
                <a:solidFill>
                  <a:srgbClr val="25231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Activités</c:v>
                </c:pt>
              </c:strCache>
            </c:strRef>
          </c:tx>
          <c:spPr>
            <a:solidFill>
              <a:srgbClr val="009E7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Réalisée</c:v>
                </c:pt>
                <c:pt idx="1">
                  <c:v>Planifiée</c:v>
                </c:pt>
                <c:pt idx="2">
                  <c:v>Reportée</c:v>
                </c:pt>
                <c:pt idx="3">
                  <c:v>Annulée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12325</c:v>
                </c:pt>
                <c:pt idx="1">
                  <c:v>1218</c:v>
                </c:pt>
                <c:pt idx="2">
                  <c:v>853</c:v>
                </c:pt>
                <c:pt idx="3">
                  <c:v>604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25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DFD5"/>
            </a:solidFill>
          </a:ln>
        </c:spPr>
        <c:txPr>
          <a:bodyPr/>
          <a:lstStyle/>
          <a:p>
            <a:pPr>
              <a:defRPr sz="1100">
                <a:solidFill>
                  <a:srgbClr val="25231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Plaintes</c:v>
                </c:pt>
              </c:strCache>
            </c:strRef>
          </c:tx>
          <c:spPr>
            <a:solidFill>
              <a:srgbClr val="D6483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Qualité assistance</c:v>
                </c:pt>
                <c:pt idx="1">
                  <c:v>Perte docs/statut</c:v>
                </c:pt>
                <c:pt idx="2">
                  <c:v>Retard distribution</c:v>
                </c:pt>
                <c:pt idx="3">
                  <c:v>Discrimination ciblage</c:v>
                </c:pt>
                <c:pt idx="4">
                  <c:v>Éligibilité contestée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202</c:v>
                </c:pt>
                <c:pt idx="1">
                  <c:v>203</c:v>
                </c:pt>
                <c:pt idx="2">
                  <c:v>209</c:v>
                </c:pt>
                <c:pt idx="3">
                  <c:v>210</c:v>
                </c:pt>
                <c:pt idx="4">
                  <c:v>218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252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4DFD5"/>
            </a:solidFill>
          </a:ln>
        </c:spPr>
        <c:txPr>
          <a:bodyPr/>
          <a:lstStyle/>
          <a:p>
            <a:pPr>
              <a:defRPr sz="1100">
                <a:solidFill>
                  <a:srgbClr val="25231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9E73"/>
                </a:solidFill>
                <a:latin typeface="Calibri"/>
              </a:rPr>
              <a:t>RAPPORT D'ANALYSE —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Performance Programmatique, Financière,
Opérationnelle et de Redevabilité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Faso Espoir International (FEI) — Burkina Faso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3B5"/>
                </a:solidFill>
                <a:latin typeface="Calibri"/>
              </a:rPr>
              <a:t>Période analysée : 2021–2025   |   Devise de référence : USD   |   18 juillet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806440"/>
            <a:ext cx="7863840" cy="548640"/>
          </a:xfrm>
          <a:prstGeom prst="roundRect">
            <a:avLst>
              <a:gd name="adj" fmla="val 6000"/>
            </a:avLst>
          </a:prstGeom>
          <a:solidFill>
            <a:srgbClr val="24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806440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A33D"/>
                </a:solidFill>
                <a:latin typeface="Calibri"/>
              </a:rPr>
              <a:t>CONFIDENTIEL — données bénéficiaires anonymisées et agrégées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2B2"/>
                </a:solidFill>
                <a:latin typeface="Calibri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31F"/>
                </a:solidFill>
                <a:latin typeface="Cambria"/>
              </a:rPr>
              <a:t>Une ONG humanitaire active depuis 2021 au Burkina Faso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500">
                <a:solidFill>
                  <a:srgbClr val="25231F"/>
                </a:solidFill>
                <a:latin typeface="Calibri"/>
              </a:rPr>
              <a:t>ONG internationale (ONGI) intervenant dans le domaine MEAL — Suivi, Évaluation, Redevabilité et Apprentissage</a:t>
            </a:r>
          </a:p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500">
                <a:solidFill>
                  <a:srgbClr val="25231F"/>
                </a:solidFill>
                <a:latin typeface="Calibri"/>
              </a:rPr>
              <a:t>12 bases terrain et 11 secteurs d'intervention humanitaire (sécurité alimentaire, nutrition, EHA, protection…)</a:t>
            </a:r>
          </a:p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500">
                <a:solidFill>
                  <a:srgbClr val="25231F"/>
                </a:solidFill>
                <a:latin typeface="Calibri"/>
              </a:rPr>
              <a:t>Coordination avec le cluster OCHA Burkina Faso</a:t>
            </a:r>
          </a:p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500">
                <a:solidFill>
                  <a:srgbClr val="25231F"/>
                </a:solidFill>
                <a:latin typeface="Calibri"/>
              </a:rPr>
              <a:t>Objet du rapport : éclairer la Direction sur 4 axes — programme, finance, opérations, redevabilité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60020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2B2"/>
                </a:solidFill>
                <a:latin typeface="Calibri"/>
              </a:rPr>
              <a:t>MÉTHODOLOGIE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350">
                <a:solidFill>
                  <a:srgbClr val="25231F"/>
                </a:solidFill>
                <a:latin typeface="Calibri"/>
              </a:rPr>
              <a:t>Base de données MEAL consolidée : 25 tables (bénéficiaires, activités, décaissements, cadre logique, plaintes, stocks, partenaires)</a:t>
            </a:r>
          </a:p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350">
                <a:solidFill>
                  <a:srgbClr val="25231F"/>
                </a:solidFill>
                <a:latin typeface="Calibri"/>
              </a:rPr>
              <a:t>Collecte terrain via KoboToolbox / ODK</a:t>
            </a:r>
          </a:p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350">
                <a:solidFill>
                  <a:srgbClr val="25231F"/>
                </a:solidFill>
                <a:latin typeface="Calibri"/>
              </a:rPr>
              <a:t>Période : 2021–2025 (5 années fiscales complètes)</a:t>
            </a:r>
          </a:p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350">
                <a:solidFill>
                  <a:srgbClr val="25231F"/>
                </a:solidFill>
                <a:latin typeface="Calibri"/>
              </a:rPr>
              <a:t>Nettoyage, modélisation et calcul de 31 indicateurs clés</a:t>
            </a:r>
          </a:p>
          <a:p>
            <a:pPr algn="l" marL="201168" indent="-201168">
              <a:lnSpc>
                <a:spcPct val="112000"/>
              </a:lnSpc>
              <a:spcAft>
                <a:spcPts val="800"/>
              </a:spcAft>
              <a:buFont typeface="Calibri"/>
              <a:buChar char="–"/>
            </a:pPr>
            <a:r>
              <a:rPr sz="1350">
                <a:solidFill>
                  <a:srgbClr val="25231F"/>
                </a:solidFill>
                <a:latin typeface="Calibri"/>
              </a:rPr>
              <a:t>Données nominatives des bénéficiaires exclues de l'analyse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847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A8478"/>
                </a:solidFill>
                <a:latin typeface="Calibri"/>
              </a:rPr>
              <a:t>Source : Base de données MEAL FEI 2021-2025 — Tableau de bord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2B2"/>
                </a:solidFill>
                <a:latin typeface="Calibri"/>
              </a:rPr>
              <a:t>PERFORMANCE PROGRAMMATIQUE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31F"/>
                </a:solidFill>
                <a:latin typeface="Cambria"/>
              </a:rPr>
              <a:t>Une couverture ciblée, un cadre logique inégal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72B2"/>
                </a:solidFill>
                <a:latin typeface="Cambria"/>
              </a:rPr>
              <a:t>1 372 / 2 000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Bénéficiaires actifs (68,6 %)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9E73"/>
                </a:solidFill>
                <a:latin typeface="Cambria"/>
              </a:rPr>
              <a:t>70,6 %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Réalisation cadre logique (volume)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8A33D"/>
                </a:solidFill>
                <a:latin typeface="Cambria"/>
              </a:rPr>
              <a:t>20,6 %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Objectifs individuels « Atteint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6483F"/>
                </a:solidFill>
                <a:latin typeface="Cambria"/>
              </a:rPr>
              <a:t>51 /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Score de vulnérabilité moyen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0" y="1600200"/>
          <a:ext cx="5943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0" y="12984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8478"/>
                </a:solidFill>
                <a:latin typeface="Calibri"/>
              </a:rPr>
              <a:t>Bénéficiaires enregistrés par région (top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847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A8478"/>
                </a:solidFill>
                <a:latin typeface="Calibri"/>
              </a:rPr>
              <a:t>Source : Base de données MEAL FEI 2021-2025 — Tableau de bord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2B2"/>
                </a:solidFill>
                <a:latin typeface="Calibri"/>
              </a:rPr>
              <a:t>SUIVI FINANCIER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31F"/>
                </a:solidFill>
                <a:latin typeface="Cambria"/>
              </a:rPr>
              <a:t>Une exécution budgétaire solide et stable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AB40"/>
                </a:solidFill>
                <a:latin typeface="Cambria"/>
              </a:rPr>
              <a:t>91,7 %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Taux d'exécution budgétaire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Cambria"/>
              </a:rPr>
              <a:t>24,11 M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Total décaissé (2021-2025)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9E73"/>
                </a:solidFill>
                <a:latin typeface="Cambria"/>
              </a:rPr>
              <a:t>~20 %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Frais de gestion (stable 5 ans)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6483F"/>
                </a:solidFill>
                <a:latin typeface="Cambria"/>
              </a:rPr>
              <a:t>10,3 %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Décaissements en attente / rejetés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0" y="1600200"/>
          <a:ext cx="5943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0" y="12984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8478"/>
                </a:solidFill>
                <a:latin typeface="Calibri"/>
              </a:rPr>
              <a:t>Valeur de l'assistance délivrée par année (USD)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8478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A8478"/>
                </a:solidFill>
                <a:latin typeface="Calibri"/>
              </a:rPr>
              <a:t>Source : Base de données MEAL FEI 2021-2025 — Tableau de bord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2B2"/>
                </a:solidFill>
                <a:latin typeface="Calibri"/>
              </a:rPr>
              <a:t>OPÉRATIONS &amp; APPROVISIONNEMENT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31F"/>
                </a:solidFill>
                <a:latin typeface="Cambria"/>
              </a:rPr>
              <a:t>Une logistique globalement maîtrisée, un risque de rupture à traiter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Cambria"/>
              </a:rPr>
              <a:t>82,2 %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Activités réalisées (/15 000)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9E73"/>
                </a:solidFill>
                <a:latin typeface="Cambria"/>
              </a:rPr>
              <a:t>3,3 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Délai moyen de livraison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8A33D"/>
                </a:solidFill>
                <a:latin typeface="Cambria"/>
              </a:rPr>
              <a:t>12,1 %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Livraisons en retard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6483F"/>
                </a:solidFill>
                <a:latin typeface="Cambria"/>
              </a:rPr>
              <a:t>11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Bases en rupture de stock imminente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0" y="1600200"/>
          <a:ext cx="5943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0" y="12984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8478"/>
                </a:solidFill>
                <a:latin typeface="Calibri"/>
              </a:rPr>
              <a:t>Répartition des 15 000 activités par statut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8478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A8478"/>
                </a:solidFill>
                <a:latin typeface="Calibri"/>
              </a:rPr>
              <a:t>Source : Base de données MEAL FEI 2021-2025 — Tableau de bord Power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2B2"/>
                </a:solidFill>
                <a:latin typeface="Calibri"/>
              </a:rPr>
              <a:t>REDEVABILITÉ &amp;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5231F"/>
                </a:solidFill>
                <a:latin typeface="Cambria"/>
              </a:rPr>
              <a:t>Un mécanisme actif, un signal fort sur l'équité du ciblage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AB40"/>
                </a:solidFill>
                <a:latin typeface="Cambria"/>
              </a:rPr>
              <a:t>56,7 %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Plaintes résolues (/2 000)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0020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70992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Cambria"/>
              </a:rPr>
              <a:t>0,80 /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368296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Score performance partenaires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6483F"/>
                </a:solidFill>
                <a:latin typeface="Cambria"/>
              </a:rPr>
              <a:t>21,8 %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Plaintes liées au ciblage/éligibilité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017520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127248"/>
            <a:ext cx="2002536" cy="70408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8A33D"/>
                </a:solidFill>
                <a:latin typeface="Cambria"/>
              </a:rPr>
              <a:t>18,1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785615"/>
            <a:ext cx="2002536" cy="448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8478"/>
                </a:solidFill>
                <a:latin typeface="Calibri"/>
              </a:rPr>
              <a:t>Délai moyen de rapportage partenaires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0" y="1600200"/>
          <a:ext cx="59436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0" y="12984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8478"/>
                </a:solidFill>
                <a:latin typeface="Calibri"/>
              </a:rPr>
              <a:t>Principaux motifs de plainte (top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8478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A8478"/>
                </a:solidFill>
                <a:latin typeface="Calibri"/>
              </a:rPr>
              <a:t>Source : Base de données MEAL FEI 2021-2025 — Tableau de bord Power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9E73"/>
                </a:solidFill>
                <a:latin typeface="Calibri"/>
              </a:rPr>
              <a:t>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Quatre priorités pour la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97480" cy="3977639"/>
          </a:xfrm>
          <a:prstGeom prst="roundRect">
            <a:avLst>
              <a:gd name="adj" fmla="val 6000"/>
            </a:avLst>
          </a:prstGeom>
          <a:solidFill>
            <a:srgbClr val="1D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6483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Auditer l'équité du ciblage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7CEDD"/>
                </a:solidFill>
                <a:latin typeface="Calibri"/>
              </a:rPr>
              <a:t>32 % des plaintes portent sur l'éligibilité ou une discrimination perçue dans le ciblage.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83080"/>
            <a:ext cx="2697480" cy="3977639"/>
          </a:xfrm>
          <a:prstGeom prst="roundRect">
            <a:avLst>
              <a:gd name="adj" fmla="val 6000"/>
            </a:avLst>
          </a:prstGeom>
          <a:solidFill>
            <a:srgbClr val="1D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65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6483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7889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Sécuriser la chaîne d'approvisionnement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7947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7CEDD"/>
                </a:solidFill>
                <a:latin typeface="Calibri"/>
              </a:rPr>
              <a:t>11 bases sur 12 ont connu une rupture de stock imminente — revoir les seuils et délais.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2697480" cy="3977639"/>
          </a:xfrm>
          <a:prstGeom prst="roundRect">
            <a:avLst>
              <a:gd name="adj" fmla="val 6000"/>
            </a:avLst>
          </a:prstGeom>
          <a:solidFill>
            <a:srgbClr val="1D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65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6483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889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Piloter le cadre logique objectif par objectif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7947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7CEDD"/>
                </a:solidFill>
                <a:latin typeface="Calibri"/>
              </a:rPr>
              <a:t>43 % des lignes d'objectifs sont « Non Atteint » malgré 71 % de réalisation globale.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783080"/>
            <a:ext cx="2697480" cy="3977639"/>
          </a:xfrm>
          <a:prstGeom prst="roundRect">
            <a:avLst>
              <a:gd name="adj" fmla="val 6000"/>
            </a:avLst>
          </a:prstGeom>
          <a:solidFill>
            <a:srgbClr val="1D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96596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8A33D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78892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Fiabiliser le circuit de décaissement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7947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7CEDD"/>
                </a:solidFill>
                <a:latin typeface="Calibri"/>
              </a:rPr>
              <a:t>10,3 % des décaissements restent en attente ou rejetés — analyser les causes.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1">
                <a:solidFill>
                  <a:srgbClr val="1AAB40"/>
                </a:solidFill>
                <a:latin typeface="Calibri"/>
              </a:rPr>
              <a:t>À maintenir : discipline budgétaire (91,7 % d'exécution) et mécanisme de plaintes actif (56,7 % de résolution).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